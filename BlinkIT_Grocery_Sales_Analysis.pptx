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A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Fruits &amp; Veg</c:v>
                  </c:pt>
                  <c:pt idx="1">
                    <c:v>Snack Foods</c:v>
                  </c:pt>
                  <c:pt idx="2">
                    <c:v>Household</c:v>
                  </c:pt>
                  <c:pt idx="3">
                    <c:v>Frozen Foods</c:v>
                  </c:pt>
                  <c:pt idx="4">
                    <c:v>Dairy</c:v>
                  </c:pt>
                  <c:pt idx="5">
                    <c:v>Canned</c:v>
                  </c:pt>
                  <c:pt idx="6">
                    <c:v>Baking Goods</c:v>
                  </c:pt>
                  <c:pt idx="7">
                    <c:v>Health &amp; Hygiene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178124.08</c:v>
                </c:pt>
                <c:pt idx="1">
                  <c:v>175433.92</c:v>
                </c:pt>
                <c:pt idx="2">
                  <c:v>135976.53</c:v>
                </c:pt>
                <c:pt idx="3">
                  <c:v>118558.88</c:v>
                </c:pt>
                <c:pt idx="4">
                  <c:v>101276.46</c:v>
                </c:pt>
                <c:pt idx="5">
                  <c:v>90706.73</c:v>
                </c:pt>
                <c:pt idx="6">
                  <c:v>81894.74</c:v>
                </c:pt>
                <c:pt idx="7">
                  <c:v>68025.84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2A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A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F7F0"/>
        </a:solidFill>
        <a:ln>
          <a:noFill/>
        </a:ln>
        <a:effectLst/>
      </c:spPr>
    </c:plotArea>
    <c:plotVisOnly val="1"/>
    <c:dispBlanksAs val="span"/>
  </c:chart>
  <c:spPr>
    <a:solidFill>
      <a:srgbClr val="F3F7F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A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5E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C8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AE9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Supermarket Type1</c:v>
                  </c:pt>
                  <c:pt idx="1">
                    <c:v>Grocery Store</c:v>
                  </c:pt>
                  <c:pt idx="2">
                    <c:v>Supermarket Type2</c:v>
                  </c:pt>
                  <c:pt idx="3">
                    <c:v>Supermarket Type3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787549.89</c:v>
                </c:pt>
                <c:pt idx="1">
                  <c:v>151939.15</c:v>
                </c:pt>
                <c:pt idx="2">
                  <c:v>131477.78</c:v>
                </c:pt>
                <c:pt idx="3">
                  <c:v>130714.67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2A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C2A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F7F0"/>
        </a:solidFill>
        <a:ln>
          <a:noFill/>
        </a:ln>
        <a:effectLst/>
      </c:spPr>
    </c:plotArea>
    <c:plotVisOnly val="1"/>
    <c:dispBlanksAs val="span"/>
  </c:chart>
  <c:spPr>
    <a:solidFill>
      <a:srgbClr val="F3F7F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A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Tier 3</c:v>
                  </c:pt>
                  <c:pt idx="1">
                    <c:v>Tier 2</c:v>
                  </c:pt>
                  <c:pt idx="2">
                    <c:v>Tier 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472133.03</c:v>
                </c:pt>
                <c:pt idx="1">
                  <c:v>393150.65</c:v>
                </c:pt>
                <c:pt idx="2">
                  <c:v>336397.81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2A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A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F7F0"/>
        </a:solidFill>
        <a:ln>
          <a:noFill/>
        </a:ln>
        <a:effectLst/>
      </c:spPr>
    </c:plotArea>
    <c:plotVisOnly val="1"/>
    <c:dispBlanksAs val="span"/>
  </c:chart>
  <c:spPr>
    <a:solidFill>
      <a:srgbClr val="F3F7F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C978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A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Medium</c:v>
                  </c:pt>
                  <c:pt idx="1">
                    <c:v>Small</c:v>
                  </c:pt>
                  <c:pt idx="2">
                    <c:v>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507895.74</c:v>
                </c:pt>
                <c:pt idx="1">
                  <c:v>444794.17</c:v>
                </c:pt>
                <c:pt idx="2">
                  <c:v>248991.59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2A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A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F7F0"/>
        </a:solidFill>
        <a:ln>
          <a:noFill/>
        </a:ln>
        <a:effectLst/>
      </c:spPr>
    </c:plotArea>
    <c:plotVisOnly val="1"/>
    <c:dispBlanksAs val="span"/>
  </c:chart>
  <c:spPr>
    <a:solidFill>
      <a:srgbClr val="F3F7F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5E20"/>
              </a:solidFill>
              <a:effectLst/>
            </c:spPr>
          </c:dPt>
          <c:dPt>
            <c:idx val="1"/>
            <c:bubble3D val="0"/>
            <c:spPr>
              <a:solidFill>
                <a:srgbClr val="F2A93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Low Fat</c:v>
                </c:pt>
                <c:pt idx="1">
                  <c:v>Regular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776319.69</c:v>
                </c:pt>
                <c:pt idx="1">
                  <c:v>425361.8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C2A2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3F7F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1B5E20"/>
            </a:solidFill>
            <a:ln w="38100" cap="flat">
              <a:solidFill>
                <a:srgbClr val="1B5E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A22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B5E20"/>
              </a:solidFill>
              <a:ln w="9525" cap="flat">
                <a:solidFill>
                  <a:srgbClr val="1B5E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2011</c:v>
                  </c:pt>
                  <c:pt idx="1">
                    <c:v>2012</c:v>
                  </c:pt>
                  <c:pt idx="2">
                    <c:v>2014</c:v>
                  </c:pt>
                  <c:pt idx="3">
                    <c:v>2015</c:v>
                  </c:pt>
                  <c:pt idx="4">
                    <c:v>2016</c:v>
                  </c:pt>
                  <c:pt idx="5">
                    <c:v>2017</c:v>
                  </c:pt>
                  <c:pt idx="6">
                    <c:v>2018</c:v>
                  </c:pt>
                  <c:pt idx="7">
                    <c:v>2020</c:v>
                  </c:pt>
                  <c:pt idx="8">
                    <c:v>2022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78131.57</c:v>
                </c:pt>
                <c:pt idx="1">
                  <c:v>130476.86</c:v>
                </c:pt>
                <c:pt idx="2">
                  <c:v>131809.02</c:v>
                </c:pt>
                <c:pt idx="3">
                  <c:v>130942.78</c:v>
                </c:pt>
                <c:pt idx="4">
                  <c:v>132113.37</c:v>
                </c:pt>
                <c:pt idx="5">
                  <c:v>133103.91</c:v>
                </c:pt>
                <c:pt idx="6">
                  <c:v>204522.26</c:v>
                </c:pt>
                <c:pt idx="7">
                  <c:v>129103.96</c:v>
                </c:pt>
                <c:pt idx="8">
                  <c:v>131477.78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2A22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A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F7F0"/>
        </a:solidFill>
        <a:ln>
          <a:noFill/>
        </a:ln>
        <a:effectLst/>
      </c:spPr>
    </c:plotArea>
    <c:plotVisOnly val="1"/>
    <c:dispBlanksAs val="span"/>
  </c:chart>
  <c:spPr>
    <a:solidFill>
      <a:srgbClr val="F3F7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743200" cy="2743200"/>
          </a:xfrm>
          <a:prstGeom prst="ellipse">
            <a:avLst/>
          </a:prstGeom>
          <a:solidFill>
            <a:srgbClr val="F2A93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2926080" cy="292608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Grocery Sales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of product performance, outlet characteristics, and sales drivers across the BlinkIT grocery dataset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10972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Maheshwari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|  Python  ·  Excel  ·  Power BI  ·  Tableau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sets out to do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performs an exploratory data analysis (EDA) of BlinkIT grocery sales data using Python, Pandas, NumPy, Matplotlib, and Seaborn — examining performance across products, categories, fat content, and outlets to surface data-driven business insights.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70432" y="31912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35204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structure, handle duplicates, and standardize categorical values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3246120"/>
            <a:ext cx="457200" cy="45720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30952" y="31912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KPIs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30952" y="35204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sales, average sales, ratings, product &amp; outlet counts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0432" y="46085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Segments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0432" y="49377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type, fat content, outlet type, size, and location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4663440"/>
            <a:ext cx="457200" cy="45720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30952" y="46085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Insights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30952" y="49377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top-performing products, outlets, and sales drivers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1600200"/>
            <a:ext cx="5074920" cy="1463040"/>
          </a:xfrm>
          <a:prstGeom prst="rect">
            <a:avLst>
              <a:gd name="adj" fmla="val 5000"/>
            </a:avLst>
          </a:prstGeom>
          <a:solidFill>
            <a:srgbClr val="0E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17373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8,523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537960" y="2377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analyzed across 12 fields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Grocery Sales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 from the cleaned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176272" cy="2926080"/>
          </a:xfrm>
          <a:prstGeom prst="roundRect">
            <a:avLst>
              <a:gd name="adj" fmla="val 4202"/>
            </a:avLst>
          </a:prstGeom>
          <a:solidFill>
            <a:srgbClr val="134A3A"/>
          </a:solidFill>
          <a:ln w="12700">
            <a:solidFill>
              <a:srgbClr val="1E6B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₹12.02L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27024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1,201,681.49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2148840"/>
            <a:ext cx="2176272" cy="2926080"/>
          </a:xfrm>
          <a:prstGeom prst="roundRect">
            <a:avLst>
              <a:gd name="adj" fmla="val 4202"/>
            </a:avLst>
          </a:prstGeom>
          <a:solidFill>
            <a:srgbClr val="134A3A"/>
          </a:solidFill>
          <a:ln w="12700">
            <a:solidFill>
              <a:srgbClr val="1E6B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310896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₹140.99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108960" y="39319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427024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line item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2148840"/>
            <a:ext cx="2176272" cy="2926080"/>
          </a:xfrm>
          <a:prstGeom prst="roundRect">
            <a:avLst>
              <a:gd name="adj" fmla="val 4202"/>
            </a:avLst>
          </a:prstGeom>
          <a:solidFill>
            <a:srgbClr val="134A3A"/>
          </a:solidFill>
          <a:ln w="12700">
            <a:solidFill>
              <a:srgbClr val="1E6B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23560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310896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3.97 / 5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486400" y="39319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427024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80960" y="2148840"/>
            <a:ext cx="2176272" cy="2926080"/>
          </a:xfrm>
          <a:prstGeom prst="roundRect">
            <a:avLst>
              <a:gd name="adj" fmla="val 4202"/>
            </a:avLst>
          </a:prstGeom>
          <a:solidFill>
            <a:srgbClr val="134A3A"/>
          </a:solidFill>
          <a:ln w="12700">
            <a:solidFill>
              <a:srgbClr val="1E6B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310896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1,559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7863840" y="39319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63840" y="427024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SKUs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0" y="2148840"/>
            <a:ext cx="2176272" cy="2926080"/>
          </a:xfrm>
          <a:prstGeom prst="roundRect">
            <a:avLst>
              <a:gd name="adj" fmla="val 4202"/>
            </a:avLst>
          </a:prstGeom>
          <a:solidFill>
            <a:srgbClr val="134A3A"/>
          </a:solidFill>
          <a:ln w="12700">
            <a:solidFill>
              <a:srgbClr val="1E6B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78440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10241280" y="310896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10241280" y="39319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Outlets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0" y="4270248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regions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Grocery Sales Analysis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Item Type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 &amp; Vegetables and Snack Foods lead category sales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112471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Grocery Sales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Outlet Type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Type1 dominates, generating over 5x any other format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55448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54480"/>
            <a:ext cx="3840480" cy="4480560"/>
          </a:xfrm>
          <a:prstGeom prst="roundRect">
            <a:avLst>
              <a:gd name="adj" fmla="val 2381"/>
            </a:avLst>
          </a:prstGeom>
          <a:solidFill>
            <a:srgbClr val="0E3B2E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828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65.5%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092440" y="2514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sales come from Supermarket Type1 outlets alone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92440" y="3520440"/>
            <a:ext cx="3291840" cy="0"/>
          </a:xfrm>
          <a:prstGeom prst="line">
            <a:avLst/>
          </a:prstGeom>
          <a:noFill/>
          <a:ln w="12700">
            <a:solidFill>
              <a:srgbClr val="2A6B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370332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Stores, Type2 and Type3 supermarkets contribute comparable, smaller shares — signaling a highly concentrated outlet mix.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Grocery Sales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&amp; Outlet Size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cities and medium-sized outlets drive the most sales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Location Type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53949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Outlet Size</a:t>
            </a:r>
            <a:endParaRPr lang="en-US" sz="15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09360" y="1965960"/>
          <a:ext cx="53949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434840"/>
            <a:ext cx="11064240" cy="0"/>
          </a:xfrm>
          <a:prstGeom prst="line">
            <a:avLst/>
          </a:prstGeom>
          <a:noFill/>
          <a:ln w="12700">
            <a:solidFill>
              <a:srgbClr val="D8E3D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46634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Tier 3 locations outsell Tier 1 by ~40%, and Medium-sized outlets outperform High-size outlets by ~2x — outlet scale doesn't guarantee higher sales.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Grocery Sales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Fat Content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Fat products account for nearly two-thirds of total sales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51206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17373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64.6%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0" y="2423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sales come from Low Fat labeled products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0" y="3200400"/>
            <a:ext cx="4937760" cy="0"/>
          </a:xfrm>
          <a:prstGeom prst="line">
            <a:avLst/>
          </a:prstGeom>
          <a:noFill/>
          <a:ln w="12700">
            <a:solidFill>
              <a:srgbClr val="D8E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34290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35.4%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400800" y="4114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 Regular fat products — a smaller but still significant share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0" y="5120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raw labels ("LF", "low fat", "reg") were standardized into two consistent categories during cleaning.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Grocery Sales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Products by Sales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single-product sales contributors in the dataset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1600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FDU12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057400" y="1655064"/>
            <a:ext cx="7498080" cy="256032"/>
          </a:xfrm>
          <a:prstGeom prst="roundRect">
            <a:avLst>
              <a:gd name="adj" fmla="val 10714"/>
            </a:avLst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9646920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2,371.01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FDT07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57400" y="2112264"/>
            <a:ext cx="7295339" cy="256032"/>
          </a:xfrm>
          <a:prstGeom prst="roundRect">
            <a:avLst>
              <a:gd name="adj" fmla="val 10714"/>
            </a:avLst>
          </a:prstGeom>
          <a:solidFill>
            <a:srgbClr val="1B5E20"/>
          </a:solidFill>
          <a:ln/>
        </p:spPr>
      </p:sp>
      <p:sp>
        <p:nvSpPr>
          <p:cNvPr id="11" name="Text 9"/>
          <p:cNvSpPr/>
          <p:nvPr/>
        </p:nvSpPr>
        <p:spPr>
          <a:xfrm>
            <a:off x="9444179" y="2057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2,306.90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5146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NCQ06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057400" y="2569464"/>
            <a:ext cx="7256789" cy="256032"/>
          </a:xfrm>
          <a:prstGeom prst="roundRect">
            <a:avLst>
              <a:gd name="adj" fmla="val 10714"/>
            </a:avLst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9405629" y="2514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2,294.71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9718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971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FDL58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057400" y="3026664"/>
            <a:ext cx="6677880" cy="256032"/>
          </a:xfrm>
          <a:prstGeom prst="roundRect">
            <a:avLst>
              <a:gd name="adj" fmla="val 10714"/>
            </a:avLst>
          </a:prstGeom>
          <a:solidFill>
            <a:srgbClr val="1B5E20"/>
          </a:solidFill>
          <a:ln/>
        </p:spPr>
      </p:sp>
      <p:sp>
        <p:nvSpPr>
          <p:cNvPr id="19" name="Text 17"/>
          <p:cNvSpPr/>
          <p:nvPr/>
        </p:nvSpPr>
        <p:spPr>
          <a:xfrm>
            <a:off x="8826720" y="29718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2,111.65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4290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4290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NCB31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057400" y="3483864"/>
            <a:ext cx="6655996" cy="256032"/>
          </a:xfrm>
          <a:prstGeom prst="roundRect">
            <a:avLst>
              <a:gd name="adj" fmla="val 10714"/>
            </a:avLst>
          </a:prstGeom>
          <a:solidFill>
            <a:srgbClr val="1B5E20"/>
          </a:solidFill>
          <a:ln/>
        </p:spPr>
      </p:sp>
      <p:sp>
        <p:nvSpPr>
          <p:cNvPr id="23" name="Text 21"/>
          <p:cNvSpPr/>
          <p:nvPr/>
        </p:nvSpPr>
        <p:spPr>
          <a:xfrm>
            <a:off x="8804836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2,104.73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8862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3886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FDX31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057400" y="3941064"/>
            <a:ext cx="6655143" cy="256032"/>
          </a:xfrm>
          <a:prstGeom prst="roundRect">
            <a:avLst>
              <a:gd name="adj" fmla="val 10714"/>
            </a:avLst>
          </a:prstGeom>
          <a:solidFill>
            <a:srgbClr val="1B5E20"/>
          </a:solidFill>
          <a:ln/>
        </p:spPr>
      </p:sp>
      <p:sp>
        <p:nvSpPr>
          <p:cNvPr id="27" name="Text 25"/>
          <p:cNvSpPr/>
          <p:nvPr/>
        </p:nvSpPr>
        <p:spPr>
          <a:xfrm>
            <a:off x="8803983" y="3886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2,104.46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343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43434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FDF05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057400" y="4398264"/>
            <a:ext cx="6650937" cy="256032"/>
          </a:xfrm>
          <a:prstGeom prst="roundRect">
            <a:avLst>
              <a:gd name="adj" fmla="val 10714"/>
            </a:avLst>
          </a:prstGeom>
          <a:solidFill>
            <a:srgbClr val="1B5E20"/>
          </a:solidFill>
          <a:ln/>
        </p:spPr>
      </p:sp>
      <p:sp>
        <p:nvSpPr>
          <p:cNvPr id="31" name="Text 29"/>
          <p:cNvSpPr/>
          <p:nvPr/>
        </p:nvSpPr>
        <p:spPr>
          <a:xfrm>
            <a:off x="8799777" y="4343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2,103.13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4800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51560" y="48006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FDR59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057400" y="4855464"/>
            <a:ext cx="6630223" cy="256032"/>
          </a:xfrm>
          <a:prstGeom prst="roundRect">
            <a:avLst>
              <a:gd name="adj" fmla="val 10714"/>
            </a:avLst>
          </a:prstGeom>
          <a:solidFill>
            <a:srgbClr val="1B5E20"/>
          </a:solidFill>
          <a:ln/>
        </p:spPr>
      </p:sp>
      <p:sp>
        <p:nvSpPr>
          <p:cNvPr id="35" name="Text 33"/>
          <p:cNvSpPr/>
          <p:nvPr/>
        </p:nvSpPr>
        <p:spPr>
          <a:xfrm>
            <a:off x="8779063" y="4800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2,096.58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52578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51560" y="5257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FDP28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057400" y="5312664"/>
            <a:ext cx="6602615" cy="256032"/>
          </a:xfrm>
          <a:prstGeom prst="roundRect">
            <a:avLst>
              <a:gd name="adj" fmla="val 10714"/>
            </a:avLst>
          </a:prstGeom>
          <a:solidFill>
            <a:srgbClr val="1B5E20"/>
          </a:solidFill>
          <a:ln/>
        </p:spPr>
      </p:sp>
      <p:sp>
        <p:nvSpPr>
          <p:cNvPr id="39" name="Text 37"/>
          <p:cNvSpPr/>
          <p:nvPr/>
        </p:nvSpPr>
        <p:spPr>
          <a:xfrm>
            <a:off x="8751455" y="52578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2,087.85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57150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51560" y="57150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FDA04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057400" y="5769864"/>
            <a:ext cx="6552712" cy="256032"/>
          </a:xfrm>
          <a:prstGeom prst="roundRect">
            <a:avLst>
              <a:gd name="adj" fmla="val 10714"/>
            </a:avLst>
          </a:prstGeom>
          <a:solidFill>
            <a:srgbClr val="1B5E20"/>
          </a:solidFill>
          <a:ln/>
        </p:spPr>
      </p:sp>
      <p:sp>
        <p:nvSpPr>
          <p:cNvPr id="43" name="Text 41"/>
          <p:cNvSpPr/>
          <p:nvPr/>
        </p:nvSpPr>
        <p:spPr>
          <a:xfrm>
            <a:off x="8701552" y="5715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2,072.07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Grocery Sales Analysis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Outlet Establishment Year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Outlets opened in 2018 generate disproportionately higher sales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11247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Grocery Sales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about where sales come from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134A3A"/>
          </a:solidFill>
          <a:ln w="9525">
            <a:solidFill>
              <a:srgbClr val="1E6B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92808"/>
            <a:ext cx="201168" cy="20116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013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leaders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D6E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 &amp; Vegetables and Snack Foods are the top-selling item types, together contributing ~29% of total sales.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134A3A"/>
          </a:solidFill>
          <a:ln w="9525">
            <a:solidFill>
              <a:srgbClr val="1E6B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6248" y="1892808"/>
            <a:ext cx="201168" cy="20116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6903720" y="18013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concentration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03720" y="21488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D6E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Type1 alone drives 65.5% of all sales — the single biggest lever for revenue growth.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134A3A"/>
          </a:solidFill>
          <a:ln w="9525">
            <a:solidFill>
              <a:srgbClr val="1E6B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401568"/>
            <a:ext cx="201168" cy="20116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3101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matters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36576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D6E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cities outsell Tier 1 by ~40%, suggesting strong untapped demand outside metro areas.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355080" y="320040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134A3A"/>
          </a:solidFill>
          <a:ln w="9525">
            <a:solidFill>
              <a:srgbClr val="1E6B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6248" y="3401568"/>
            <a:ext cx="201168" cy="20116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3101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Fat dominates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903720" y="36576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D6E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Fat products generate 64.6% of sales, nearly double the Regular fat-content share.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134A3A"/>
          </a:solidFill>
          <a:ln w="9525">
            <a:solidFill>
              <a:srgbClr val="1E6B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4910328"/>
            <a:ext cx="201168" cy="20116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8188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size ≠ sales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97280" y="51663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D6E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Medium-sized outlets outperform High-size outlets by ~2x — footprint isn't the main sales driver.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355080" y="470916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134A3A"/>
          </a:solidFill>
          <a:ln w="9525">
            <a:solidFill>
              <a:srgbClr val="1E6B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56248" y="4910328"/>
            <a:ext cx="201168" cy="20116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48188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vintage outperforms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03720" y="51663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D6E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Outlets established in 2018 post the highest average sales of any establishment year.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Grocery Sales Analysis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2026-08-08T13:59:05Z</dcterms:created>
  <dcterms:modified xsi:type="dcterms:W3CDTF">2026-08-08T13:59:05Z</dcterms:modified>
</cp:coreProperties>
</file>